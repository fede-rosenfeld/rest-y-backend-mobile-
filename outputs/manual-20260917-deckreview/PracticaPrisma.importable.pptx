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ns0:Relationships xmlns:ns0="http://schemas.openxmlformats.org/package/2006/relationships">
		<ns0:Relationship Id="rId1" Type="http://schemas.openxmlformats.org/officeDocument/2006/relationships/extended-properties" Target="docProps/app.xml" />
		<ns0:Relationship Id="rId2" Type="http://schemas.openxmlformats.org/package/2006/relationships/metadata/core-properties" Target="docProps/core.xml" />
		<ns0:Relationship Id="rId3" Type="http://schemas.openxmlformats.org/officeDocument/2006/relationships/officeDocument" Target="ppt/presentation.xml" />
		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>
  <ns0:sldMasterIdLst>
    <ns0:sldMasterId id="2147483648" ns1:id="rId1"/>
  </ns0:sldMasterIdLst>
  <ns0:sldIdLst>
    <ns0:sldId id="256" ns1:id="rId2"/>
    <ns0:sldId id="257" ns1:id="rId3"/>
    <ns0:sldId id="258" ns1:id="rId4"/>
    <ns0:sldId id="259" ns1:id="rId5"/>
    <ns0:sldId id="260" ns1:id="rId6"/>
    <ns0:sldId id="261" ns1:id="rId7"/>
    <ns0:sldId id="262" ns1:id="rId8"/>
    <ns0:sldId id="263" ns1:id="rId9"/>
    <ns0:sldId id="264" ns1:id="rId10"/>
    <ns0:sldId id="265" ns1:id="rId11"/>
    <ns0:sldId id="266" ns1:id="rId12"/>
    <ns0:sldId id="267" ns1:id="rId13"/>
    <ns0:sldId id="268" ns1:id="rId14"/>
    <ns0:sldId id="269" ns1:id="rId15"/>
    <ns0:sldId id="270" ns1:id="rId16"/>
    <ns0:sldId id="271" ns1:id="rId17"/>
    <ns0:sldId id="272" ns1:id="rId18"/>
  </ns0:sldIdLst>
  <ns0:sldSz cx="12192000" cy="6858000"/>
  <ns0:notesSz cx="6858000" cy="12192000"/>
  <ns0:defaultTextStyle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slide" Target="slides/slide1.xml" /><ns0:Relationship Id="rId3" Type="http://schemas.openxmlformats.org/officeDocument/2006/relationships/slide" Target="slides/slide2.xml" /><ns0:Relationship Id="rId4" Type="http://schemas.openxmlformats.org/officeDocument/2006/relationships/slide" Target="slides/slide3.xml" /><ns0:Relationship Id="rId5" Type="http://schemas.openxmlformats.org/officeDocument/2006/relationships/slide" Target="slides/slide4.xml" /><ns0:Relationship Id="rId6" Type="http://schemas.openxmlformats.org/officeDocument/2006/relationships/slide" Target="slides/slide5.xml" /><ns0:Relationship Id="rId7" Type="http://schemas.openxmlformats.org/officeDocument/2006/relationships/slide" Target="slides/slide6.xml" /><ns0:Relationship Id="rId8" Type="http://schemas.openxmlformats.org/officeDocument/2006/relationships/slide" Target="slides/slide7.xml" /><ns0:Relationship Id="rId9" Type="http://schemas.openxmlformats.org/officeDocument/2006/relationships/slide" Target="slides/slide8.xml" /><ns0:Relationship Id="rId10" Type="http://schemas.openxmlformats.org/officeDocument/2006/relationships/slide" Target="slides/slide9.xml" /><ns0:Relationship Id="rId11" Type="http://schemas.openxmlformats.org/officeDocument/2006/relationships/slide" Target="slides/slide10.xml" /><ns0:Relationship Id="rId12" Type="http://schemas.openxmlformats.org/officeDocument/2006/relationships/slide" Target="slides/slide11.xml" /><ns0:Relationship Id="rId13" Type="http://schemas.openxmlformats.org/officeDocument/2006/relationships/slide" Target="slides/slide12.xml" /><ns0:Relationship Id="rId14" Type="http://schemas.openxmlformats.org/officeDocument/2006/relationships/slide" Target="slides/slide13.xml" /><ns0:Relationship Id="rId15" Type="http://schemas.openxmlformats.org/officeDocument/2006/relationships/slide" Target="slides/slide14.xml" /><ns0:Relationship Id="rId16" Type="http://schemas.openxmlformats.org/officeDocument/2006/relationships/slide" Target="slides/slide15.xml" /><ns0:Relationship Id="rId17" Type="http://schemas.openxmlformats.org/officeDocument/2006/relationships/slide" Target="slides/slide16.xml" /><ns0:Relationship Id="rId18" Type="http://schemas.openxmlformats.org/officeDocument/2006/relationships/slide" Target="slides/slide17.xml" /><ns0:Relationship Id="rId20" Type="http://schemas.openxmlformats.org/officeDocument/2006/relationships/presProps" Target="presProps.xml" /><ns0:Relationship Id="rId21" Type="http://schemas.openxmlformats.org/officeDocument/2006/relationships/viewProps" Target="viewProps.xml" /><ns0:Relationship Id="rId22" Type="http://schemas.openxmlformats.org/officeDocument/2006/relationships/theme" Target="theme/theme1.xml" /><ns0:Relationship Id="rId23" Type="http://schemas.openxmlformats.org/officeDocument/2006/relationships/tableStyles" Target="tableStyles.xml" /></ns0:Relationship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1011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20040"/>
            <a:ext cx="11402568" cy="0"/>
          </a:xfrm>
          <a:prstGeom prst="line">
            <a:avLst/>
          </a:prstGeom>
          <a:noFill/>
          <a:ln w="12700">
            <a:solidFill>
              <a:srgbClr val="8A7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3192" y="653796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F71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PRACTICA17926 / DWARF FORTRESS BACKEND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71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slideLayout" Target="../slideLayouts/slideLayout2.xml" /><ns0:Relationship Id="rId3" Type="http://schemas.openxmlformats.org/officeDocument/2006/relationships/theme" Target="../theme/theme1.xml" /></ns0: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71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1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1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1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1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1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1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1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1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1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60520" y="71323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D2A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+ CLIENT / CLASE PRÁCTICA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194560" y="1170432"/>
            <a:ext cx="7818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E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fortaleza que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3E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recuerda a sus enanos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40280" y="2359152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Native Expo + Express + Prisma + SQLite + TypeScript</a:t>
            </a:r>
            <a:endParaRPr lang="en-US" sz="1280" dirty="0"/>
          </a:p>
        </p:txBody>
      </p:sp>
      <p:sp>
        <p:nvSpPr>
          <p:cNvPr id="5" name="Shape 3"/>
          <p:cNvSpPr/>
          <p:nvPr/>
        </p:nvSpPr>
        <p:spPr>
          <a:xfrm>
            <a:off x="3511296" y="2999232"/>
            <a:ext cx="5166360" cy="1353312"/>
          </a:xfrm>
          <a:prstGeom prst="roundRect">
            <a:avLst>
              <a:gd name="adj" fmla="val 5405"/>
            </a:avLst>
          </a:prstGeom>
          <a:solidFill>
            <a:srgbClr val="1A1C1E"/>
          </a:solidFill>
          <a:ln w="17780">
            <a:solidFill>
              <a:srgbClr val="8A7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22192" y="3255264"/>
            <a:ext cx="45354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2A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+--------------------------+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D2A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DWARF FORTRESS      |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D2A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ASCII LEDGER       |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D2A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+--------------------------+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920240" y="482803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Objetivo: entender quién hace qué, cómo viaja un dato y por qué la separación entre capas importa.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74520" y="541324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i="1" dirty="0">
                <a:solidFill>
                  <a:srgbClr val="7E8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bloques de código de esta presentación provienen directamente del proyecto y se mantienen sin cambios.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71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530352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D2A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93192" y="80467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3E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vamos a entender antes de tocar el código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93192" y="131673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Primero responsabilidades; después verbos HTTP; recién ahí seguimos el dato en el proyecto.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487168" cy="1828800"/>
          </a:xfrm>
          <a:prstGeom prst="roundRect">
            <a:avLst>
              <a:gd name="adj" fmla="val 4000"/>
            </a:avLst>
          </a:prstGeom>
          <a:solidFill>
            <a:srgbClr val="181A1C"/>
          </a:solidFill>
          <a:ln w="16510">
            <a:solidFill>
              <a:srgbClr val="83B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222199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3B6D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04088" y="2706624"/>
            <a:ext cx="20848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Interfaz, estado local, eventos y fetch().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3017520" y="2852928"/>
            <a:ext cx="301752" cy="0"/>
          </a:xfrm>
          <a:prstGeom prst="line">
            <a:avLst/>
          </a:prstGeom>
          <a:noFill/>
          <a:ln w="16510">
            <a:solidFill>
              <a:srgbClr val="7E818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01568" y="1965960"/>
            <a:ext cx="2487168" cy="1828800"/>
          </a:xfrm>
          <a:prstGeom prst="roundRect">
            <a:avLst>
              <a:gd name="adj" fmla="val 4000"/>
            </a:avLst>
          </a:prstGeom>
          <a:solidFill>
            <a:srgbClr val="181A1C"/>
          </a:solidFill>
          <a:ln w="16510">
            <a:solidFill>
              <a:srgbClr val="D2AE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222199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2A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EXPRESS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02736" y="2706624"/>
            <a:ext cx="20848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Rutas HTTP, JSON, middleware y validación.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5916168" y="2852928"/>
            <a:ext cx="301752" cy="0"/>
          </a:xfrm>
          <a:prstGeom prst="line">
            <a:avLst/>
          </a:prstGeom>
          <a:noFill/>
          <a:ln w="16510">
            <a:solidFill>
              <a:srgbClr val="7E818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00216" y="1965960"/>
            <a:ext cx="2487168" cy="1828800"/>
          </a:xfrm>
          <a:prstGeom prst="roundRect">
            <a:avLst>
              <a:gd name="adj" fmla="val 4000"/>
            </a:avLst>
          </a:prstGeom>
          <a:solidFill>
            <a:srgbClr val="181A1C"/>
          </a:solidFill>
          <a:ln w="16510">
            <a:solidFill>
              <a:srgbClr val="8FC79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222199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C79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PRISMA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01384" y="2706624"/>
            <a:ext cx="20848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Schema, cliente tipado y operaciones de datos.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8814816" y="2852928"/>
            <a:ext cx="301752" cy="0"/>
          </a:xfrm>
          <a:prstGeom prst="line">
            <a:avLst/>
          </a:prstGeom>
          <a:noFill/>
          <a:ln w="16510">
            <a:solidFill>
              <a:srgbClr val="7E818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98864" y="1965960"/>
            <a:ext cx="2487168" cy="1828800"/>
          </a:xfrm>
          <a:prstGeom prst="roundRect">
            <a:avLst>
              <a:gd name="adj" fmla="val 4000"/>
            </a:avLst>
          </a:prstGeom>
          <a:solidFill>
            <a:srgbClr val="181A1C"/>
          </a:solidFill>
          <a:ln w="16510">
            <a:solidFill>
              <a:srgbClr val="D2A0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63456" y="222199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2A0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SQLITE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400032" y="2706624"/>
            <a:ext cx="20848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Persistencia real de los registros.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1051560" y="4251960"/>
            <a:ext cx="10058400" cy="1298448"/>
          </a:xfrm>
          <a:prstGeom prst="roundRect">
            <a:avLst>
              <a:gd name="adj" fmla="val 5634"/>
            </a:avLst>
          </a:prstGeom>
          <a:solidFill>
            <a:srgbClr val="151719"/>
          </a:solidFill>
          <a:ln w="13970">
            <a:solidFill>
              <a:srgbClr val="3D41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44988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2A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CENTRAL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468880" y="4398264"/>
            <a:ext cx="8183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App no toca la base. El usuario dispara una acción → HTTP llega a Express → Prisma consulta o modifica → SQLite persiste → la respuesta vuelve a la UI.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772400" y="5989320"/>
            <a:ext cx="3794760" cy="384048"/>
          </a:xfrm>
          <a:prstGeom prst="roundRect">
            <a:avLst>
              <a:gd name="adj" fmla="val 11905"/>
            </a:avLst>
          </a:prstGeom>
          <a:solidFill>
            <a:srgbClr val="1C2520"/>
          </a:solidFill>
          <a:ln w="10160">
            <a:solidFill>
              <a:srgbClr val="466B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82128" y="6062472"/>
            <a:ext cx="1234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8FC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DE CLASE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9070848" y="60441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capa cambiarían si mañana reemplazamos la UI pero mantenemos la misma base?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71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530352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D2A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93192" y="80467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3E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modelo Person es el contrato que todos entienden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93192" y="131673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pantalla y el backend hablan de los mismos campos; Prisma vuelve explícito ese contrato.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530352" y="1828800"/>
            <a:ext cx="4800600" cy="3520440"/>
          </a:xfrm>
          <a:prstGeom prst="roundRect">
            <a:avLst>
              <a:gd name="adj" fmla="val 2078"/>
            </a:avLst>
          </a:prstGeom>
          <a:solidFill>
            <a:srgbClr val="17191B"/>
          </a:solidFill>
          <a:ln w="13970">
            <a:solidFill>
              <a:srgbClr val="4B4E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93392"/>
            <a:ext cx="4398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70" kern="0" dirty="0">
                <a:solidFill>
                  <a:srgbClr val="D2A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PRISMA/SCHEMA.PRISMA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731520" y="2304288"/>
            <a:ext cx="439826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Person {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Int @id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firstName String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lastName String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arrivalDate DateTime?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isWorking Boolean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createdAt DateTime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31520" y="5166360"/>
            <a:ext cx="4398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i="1" dirty="0">
                <a:solidFill>
                  <a:srgbClr val="777A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REAL DEL PROYECTO · SIN CAMBIOS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5989320" y="188366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70" kern="0" dirty="0">
                <a:solidFill>
                  <a:srgbClr val="D2A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IDENTIDAD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5989320" y="213969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firstName + lastName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89320" y="27340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70" kern="0" dirty="0">
                <a:solidFill>
                  <a:srgbClr val="83B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TIEMPO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5989320" y="299008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arrivalDate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89320" y="35844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70" kern="0" dirty="0">
                <a:solidFill>
                  <a:srgbClr val="8FC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5989320" y="38404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isWorking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89320" y="44348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70" kern="0" dirty="0">
                <a:solidFill>
                  <a:srgbClr val="D2A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5989320" y="469087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+ createdAt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89320" y="4983480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registro pequeño es ideal para clase: permite ver todo el recorrido sin distraerse con reglas de negocio grandes.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7772400" y="5989320"/>
            <a:ext cx="3794760" cy="384048"/>
          </a:xfrm>
          <a:prstGeom prst="roundRect">
            <a:avLst>
              <a:gd name="adj" fmla="val 11905"/>
            </a:avLst>
          </a:prstGeom>
          <a:solidFill>
            <a:srgbClr val="1C2520"/>
          </a:solidFill>
          <a:ln w="10160">
            <a:solidFill>
              <a:srgbClr val="466B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82128" y="6062472"/>
            <a:ext cx="1234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8FC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DE CLASE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9070848" y="60441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¿Cuál de estos campos podría ser opcional y cómo se expresa en Prisma?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71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530352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D2A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93192" y="80467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3E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 capa tiene una responsabilidad concreta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93192" y="131673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 diapositiva va antes del CRUD para que el código aparezca después de entender el mapa.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502920" y="1947672"/>
            <a:ext cx="2487168" cy="2240280"/>
          </a:xfrm>
          <a:prstGeom prst="roundRect">
            <a:avLst>
              <a:gd name="adj" fmla="val 3265"/>
            </a:avLst>
          </a:prstGeom>
          <a:solidFill>
            <a:srgbClr val="181A1C"/>
          </a:solidFill>
          <a:ln w="15240">
            <a:solidFill>
              <a:srgbClr val="83B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2203704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3B6D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22376" y="2715768"/>
            <a:ext cx="204825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Fortaleza visible</a:t>
            </a:r>
            <a:endParaRPr lang="en-US" sz="1110" dirty="0"/>
          </a:p>
          <a:p>
            <a:pPr algn="ctr" indent="0" marL="0">
              <a:buNone/>
            </a:pPr>
            <a:r>
              <a:rPr lang="en-US" sz="111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 · FlatList</a:t>
            </a:r>
            <a:endParaRPr lang="en-US" sz="1110" dirty="0"/>
          </a:p>
          <a:p>
            <a:pPr algn="ctr" indent="0" marL="0">
              <a:buNone/>
            </a:pPr>
            <a:r>
              <a:rPr lang="en-US" sz="111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Botones · estado local</a:t>
            </a:r>
            <a:endParaRPr lang="en-US" sz="1110" dirty="0"/>
          </a:p>
        </p:txBody>
      </p:sp>
      <p:sp>
        <p:nvSpPr>
          <p:cNvPr id="8" name="Shape 6"/>
          <p:cNvSpPr/>
          <p:nvPr/>
        </p:nvSpPr>
        <p:spPr>
          <a:xfrm>
            <a:off x="3008376" y="3044952"/>
            <a:ext cx="310896" cy="0"/>
          </a:xfrm>
          <a:prstGeom prst="line">
            <a:avLst/>
          </a:prstGeom>
          <a:noFill/>
          <a:ln w="15875">
            <a:solidFill>
              <a:srgbClr val="7E818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01568" y="1947672"/>
            <a:ext cx="2487168" cy="2240280"/>
          </a:xfrm>
          <a:prstGeom prst="roundRect">
            <a:avLst>
              <a:gd name="adj" fmla="val 3265"/>
            </a:avLst>
          </a:prstGeom>
          <a:solidFill>
            <a:srgbClr val="181A1C"/>
          </a:solidFill>
          <a:ln w="15240">
            <a:solidFill>
              <a:srgbClr val="D2AE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2203704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2A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EXPRESS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21024" y="2715768"/>
            <a:ext cx="204825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Puerta de entrada</a:t>
            </a:r>
            <a:endParaRPr lang="en-US" sz="1110" dirty="0"/>
          </a:p>
          <a:p>
            <a:pPr algn="ctr" indent="0" marL="0">
              <a:buNone/>
            </a:pPr>
            <a:r>
              <a:rPr lang="en-US" sz="111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Rutas · JSON</a:t>
            </a:r>
            <a:endParaRPr lang="en-US" sz="1110" dirty="0"/>
          </a:p>
          <a:p>
            <a:pPr algn="ctr" indent="0" marL="0">
              <a:buNone/>
            </a:pPr>
            <a:r>
              <a:rPr lang="en-US" sz="111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CORS · validación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5907024" y="3044952"/>
            <a:ext cx="310896" cy="0"/>
          </a:xfrm>
          <a:prstGeom prst="line">
            <a:avLst/>
          </a:prstGeom>
          <a:noFill/>
          <a:ln w="15875">
            <a:solidFill>
              <a:srgbClr val="7E818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00216" y="1947672"/>
            <a:ext cx="2487168" cy="2240280"/>
          </a:xfrm>
          <a:prstGeom prst="roundRect">
            <a:avLst>
              <a:gd name="adj" fmla="val 3265"/>
            </a:avLst>
          </a:prstGeom>
          <a:solidFill>
            <a:srgbClr val="181A1C"/>
          </a:solidFill>
          <a:ln w="15240">
            <a:solidFill>
              <a:srgbClr val="8FC79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2203704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C79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PRISMA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19672" y="2715768"/>
            <a:ext cx="204825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Capataz de datos</a:t>
            </a:r>
            <a:endParaRPr lang="en-US" sz="1110" dirty="0"/>
          </a:p>
          <a:p>
            <a:pPr algn="ctr" indent="0" marL="0">
              <a:buNone/>
            </a:pPr>
            <a:r>
              <a:rPr lang="en-US" sz="111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· Client</a:t>
            </a:r>
            <a:endParaRPr lang="en-US" sz="1110" dirty="0"/>
          </a:p>
          <a:p>
            <a:pPr algn="ctr" indent="0" marL="0">
              <a:buNone/>
            </a:pPr>
            <a:r>
              <a:rPr lang="en-US" sz="111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Tipos · consultas</a:t>
            </a:r>
            <a:endParaRPr lang="en-US" sz="1110" dirty="0"/>
          </a:p>
        </p:txBody>
      </p:sp>
      <p:sp>
        <p:nvSpPr>
          <p:cNvPr id="16" name="Shape 14"/>
          <p:cNvSpPr/>
          <p:nvPr/>
        </p:nvSpPr>
        <p:spPr>
          <a:xfrm>
            <a:off x="8805672" y="3044952"/>
            <a:ext cx="310896" cy="0"/>
          </a:xfrm>
          <a:prstGeom prst="line">
            <a:avLst/>
          </a:prstGeom>
          <a:noFill/>
          <a:ln w="15875">
            <a:solidFill>
              <a:srgbClr val="7E818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98864" y="1947672"/>
            <a:ext cx="2487168" cy="2240280"/>
          </a:xfrm>
          <a:prstGeom prst="roundRect">
            <a:avLst>
              <a:gd name="adj" fmla="val 3265"/>
            </a:avLst>
          </a:prstGeom>
          <a:solidFill>
            <a:srgbClr val="181A1C"/>
          </a:solidFill>
          <a:ln w="15240">
            <a:solidFill>
              <a:srgbClr val="D2A0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63456" y="2203704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2A0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SQLITE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418320" y="2715768"/>
            <a:ext cx="204825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Almacén</a:t>
            </a:r>
            <a:endParaRPr lang="en-US" sz="1110" dirty="0"/>
          </a:p>
          <a:p>
            <a:pPr algn="ctr" indent="0" marL="0">
              <a:buNone/>
            </a:pPr>
            <a:r>
              <a:rPr lang="en-US" sz="111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</a:t>
            </a:r>
            <a:endParaRPr lang="en-US" sz="1110" dirty="0"/>
          </a:p>
          <a:p>
            <a:pPr algn="ctr" indent="0" marL="0">
              <a:buNone/>
            </a:pPr>
            <a:r>
              <a:rPr lang="en-US" sz="111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arrivalDate · isWorking</a:t>
            </a:r>
            <a:endParaRPr lang="en-US" sz="1110" dirty="0"/>
          </a:p>
        </p:txBody>
      </p:sp>
      <p:sp>
        <p:nvSpPr>
          <p:cNvPr id="20" name="Text 18"/>
          <p:cNvSpPr/>
          <p:nvPr/>
        </p:nvSpPr>
        <p:spPr>
          <a:xfrm>
            <a:off x="1417320" y="4663440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celular pide  →  Express decide  →  Prisma consulta  →  SQLite conserva la historia.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920240" y="51389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separación permite cambiar la interfaz sin reescribir la persistencia.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772400" y="5989320"/>
            <a:ext cx="3794760" cy="384048"/>
          </a:xfrm>
          <a:prstGeom prst="roundRect">
            <a:avLst>
              <a:gd name="adj" fmla="val 11905"/>
            </a:avLst>
          </a:prstGeom>
          <a:solidFill>
            <a:srgbClr val="1C2520"/>
          </a:solidFill>
          <a:ln w="10160">
            <a:solidFill>
              <a:srgbClr val="466B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82128" y="6062472"/>
            <a:ext cx="1234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8FC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DE CLASE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9070848" y="60441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sería un problema que App.tsx abriera SQLite directamente?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71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530352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D2A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REST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93192" y="80467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3E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 convierte acciones de la App en mensajes JSON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93192" y="131673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verbo HTTP expresa una intención distinta sobre el recurso /api/personas.</a:t>
            </a:r>
            <a:endParaRPr lang="en-US" sz="1240" dirty="0"/>
          </a:p>
        </p:txBody>
      </p:sp>
      <p:sp>
        <p:nvSpPr>
          <p:cNvPr id="5" name="Text 3"/>
          <p:cNvSpPr/>
          <p:nvPr/>
        </p:nvSpPr>
        <p:spPr>
          <a:xfrm>
            <a:off x="594360" y="199339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70" kern="0" dirty="0">
                <a:solidFill>
                  <a:srgbClr val="7E8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VERBO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1874520" y="199339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70" kern="0" dirty="0">
                <a:solidFill>
                  <a:srgbClr val="7E8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INTENCIÓN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4572000" y="199339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70" kern="0" dirty="0">
                <a:solidFill>
                  <a:srgbClr val="7E8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8778240" y="19933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70" kern="0" dirty="0">
                <a:solidFill>
                  <a:srgbClr val="7E8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594360" y="2880360"/>
            <a:ext cx="10561320" cy="0"/>
          </a:xfrm>
          <a:prstGeom prst="line">
            <a:avLst/>
          </a:prstGeom>
          <a:noFill/>
          <a:ln w="8890">
            <a:solidFill>
              <a:srgbClr val="2C30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774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3B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74520" y="23774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4572000" y="23774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F3EF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/api/personas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8778240" y="23774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 OK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594360" y="3593592"/>
            <a:ext cx="10561320" cy="0"/>
          </a:xfrm>
          <a:prstGeom prst="line">
            <a:avLst/>
          </a:prstGeom>
          <a:noFill/>
          <a:ln w="8890">
            <a:solidFill>
              <a:srgbClr val="2C30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09067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C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874520" y="309067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4572000" y="309067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F3EF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/api/personas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8778240" y="30906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 Created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594360" y="4306824"/>
            <a:ext cx="10561320" cy="0"/>
          </a:xfrm>
          <a:prstGeom prst="line">
            <a:avLst/>
          </a:prstGeom>
          <a:noFill/>
          <a:ln w="8890">
            <a:solidFill>
              <a:srgbClr val="2C30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80390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2A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PATCH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874520" y="380390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cambiar una parte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4572000" y="380390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F3EF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/api/personas/:id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8778240" y="38039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 OK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594360" y="5020056"/>
            <a:ext cx="10561320" cy="0"/>
          </a:xfrm>
          <a:prstGeom prst="line">
            <a:avLst/>
          </a:prstGeom>
          <a:noFill/>
          <a:ln w="8890">
            <a:solidFill>
              <a:srgbClr val="2C30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51713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8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874520" y="451713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eliminar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4572000" y="451713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F3EF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/api/personas/:id</a:t>
            </a:r>
            <a:endParaRPr lang="en-US" sz="1260" dirty="0"/>
          </a:p>
        </p:txBody>
      </p:sp>
      <p:sp>
        <p:nvSpPr>
          <p:cNvPr id="28" name="Text 26"/>
          <p:cNvSpPr/>
          <p:nvPr/>
        </p:nvSpPr>
        <p:spPr>
          <a:xfrm>
            <a:off x="8778240" y="45171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204 No Content</a:t>
            </a:r>
            <a:endParaRPr lang="en-US" sz="1280" dirty="0"/>
          </a:p>
        </p:txBody>
      </p:sp>
      <p:sp>
        <p:nvSpPr>
          <p:cNvPr id="29" name="Shape 27"/>
          <p:cNvSpPr/>
          <p:nvPr/>
        </p:nvSpPr>
        <p:spPr>
          <a:xfrm>
            <a:off x="731520" y="5376672"/>
            <a:ext cx="10424160" cy="658368"/>
          </a:xfrm>
          <a:prstGeom prst="roundRect">
            <a:avLst>
              <a:gd name="adj" fmla="val 11111"/>
            </a:avLst>
          </a:prstGeom>
          <a:solidFill>
            <a:srgbClr val="1B1C18"/>
          </a:solidFill>
          <a:ln w="13970">
            <a:solidFill>
              <a:srgbClr val="8A7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5577840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D2A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PATCH es ideal para el botón “Trabajando”: actualiza isWorking sin reenviar toda la persona.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7059168" y="6089904"/>
            <a:ext cx="4526280" cy="384048"/>
          </a:xfrm>
          <a:prstGeom prst="roundRect">
            <a:avLst>
              <a:gd name="adj" fmla="val 11905"/>
            </a:avLst>
          </a:prstGeom>
          <a:solidFill>
            <a:srgbClr val="1C2520"/>
          </a:solidFill>
          <a:ln w="10160">
            <a:solidFill>
              <a:srgbClr val="466B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68896" y="6163056"/>
            <a:ext cx="1234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8FC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DE CLASE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8357616" y="61447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no usar POST para cambiar isWorking de una persona existente?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71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530352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D2A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93192" y="80467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3E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Express es la puerta de entrada de la API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93192" y="131673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Recibe HTTP, interpreta JSON y decide qué función ejecutar.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512064" y="1828800"/>
            <a:ext cx="5687568" cy="3886200"/>
          </a:xfrm>
          <a:prstGeom prst="roundRect">
            <a:avLst>
              <a:gd name="adj" fmla="val 1882"/>
            </a:avLst>
          </a:prstGeom>
          <a:solidFill>
            <a:srgbClr val="17191B"/>
          </a:solidFill>
          <a:ln w="13970">
            <a:solidFill>
              <a:srgbClr val="4B4E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5285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70" kern="0" dirty="0">
                <a:solidFill>
                  <a:srgbClr val="D2A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BACKEND/SRC/INDEX.TS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713232" y="2304288"/>
            <a:ext cx="528523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app = express();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port = 3000;</a:t>
            </a:r>
            <a:endParaRPr lang="en-US" sz="1520" dirty="0"/>
          </a:p>
          <a:p>
            <a:pPr indent="0" marL="0">
              <a:buNone/>
            </a:pP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app.use(cors());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app.use(express.json());</a:t>
            </a:r>
            <a:endParaRPr lang="en-US" sz="1520" dirty="0"/>
          </a:p>
          <a:p>
            <a:pPr indent="0" marL="0">
              <a:buNone/>
            </a:pP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app.get("/api/health", (_req, res) =&gt; {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res.json({ ok: true });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713232" y="5532120"/>
            <a:ext cx="5285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i="1" dirty="0">
                <a:solidFill>
                  <a:srgbClr val="777A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REAL DEL PROYECTO · SIN CAMBIOS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6629400" y="1828800"/>
            <a:ext cx="4892040" cy="3886200"/>
          </a:xfrm>
          <a:prstGeom prst="roundRect">
            <a:avLst>
              <a:gd name="adj" fmla="val 1882"/>
            </a:avLst>
          </a:prstGeom>
          <a:solidFill>
            <a:srgbClr val="191B1D"/>
          </a:solidFill>
          <a:ln w="13970">
            <a:solidFill>
              <a:srgbClr val="3A3E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31152" y="213969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70" kern="0" dirty="0">
                <a:solidFill>
                  <a:srgbClr val="7E8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HACE EXPRESS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6931152" y="2487168"/>
            <a:ext cx="4297680" cy="1051560"/>
          </a:xfrm>
          <a:prstGeom prst="roundRect">
            <a:avLst>
              <a:gd name="adj" fmla="val 6957"/>
            </a:avLst>
          </a:prstGeom>
          <a:solidFill>
            <a:srgbClr val="202326"/>
          </a:solidFill>
          <a:ln w="13970">
            <a:solidFill>
              <a:srgbClr val="3D41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77456" y="2670048"/>
            <a:ext cx="384048" cy="384048"/>
          </a:xfrm>
          <a:prstGeom prst="ellipse">
            <a:avLst/>
          </a:prstGeom>
          <a:solidFill>
            <a:srgbClr val="D2AE63"/>
          </a:solidFill>
          <a:ln w="12700">
            <a:solidFill>
              <a:srgbClr val="D2AE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77456" y="27020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1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52944" y="2633472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Escucha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52944" y="2898648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proceso queda esperando peticiones en el puerto 3000.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31152" y="3611880"/>
            <a:ext cx="4297680" cy="1051560"/>
          </a:xfrm>
          <a:prstGeom prst="roundRect">
            <a:avLst>
              <a:gd name="adj" fmla="val 6957"/>
            </a:avLst>
          </a:prstGeom>
          <a:solidFill>
            <a:srgbClr val="202326"/>
          </a:solidFill>
          <a:ln w="13970">
            <a:solidFill>
              <a:srgbClr val="3D41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77456" y="3794760"/>
            <a:ext cx="384048" cy="384048"/>
          </a:xfrm>
          <a:prstGeom prst="ellipse">
            <a:avLst/>
          </a:prstGeom>
          <a:solidFill>
            <a:srgbClr val="83B6D9"/>
          </a:solidFill>
          <a:ln w="12700">
            <a:solidFill>
              <a:srgbClr val="83B6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77456" y="38267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1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552944" y="3758184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52944" y="4023360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cors() y express.json() actúan antes de las rutas.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931152" y="4736592"/>
            <a:ext cx="4297680" cy="1051560"/>
          </a:xfrm>
          <a:prstGeom prst="roundRect">
            <a:avLst>
              <a:gd name="adj" fmla="val 6957"/>
            </a:avLst>
          </a:prstGeom>
          <a:solidFill>
            <a:srgbClr val="202326"/>
          </a:solidFill>
          <a:ln w="13970">
            <a:solidFill>
              <a:srgbClr val="3D41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77456" y="4919472"/>
            <a:ext cx="384048" cy="384048"/>
          </a:xfrm>
          <a:prstGeom prst="ellipse">
            <a:avLst/>
          </a:prstGeom>
          <a:solidFill>
            <a:srgbClr val="8FC79D"/>
          </a:solidFill>
          <a:ln w="12700">
            <a:solidFill>
              <a:srgbClr val="8FC79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77456" y="495147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1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52944" y="4882896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52944" y="5148072"/>
            <a:ext cx="3529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ruta produce una respuesta HTTP, normalmente JSON.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903720" y="6016752"/>
            <a:ext cx="4617720" cy="384048"/>
          </a:xfrm>
          <a:prstGeom prst="roundRect">
            <a:avLst>
              <a:gd name="adj" fmla="val 11905"/>
            </a:avLst>
          </a:prstGeom>
          <a:solidFill>
            <a:srgbClr val="1C2520"/>
          </a:solidFill>
          <a:ln w="10160">
            <a:solidFill>
              <a:srgbClr val="466B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13448" y="6089904"/>
            <a:ext cx="1234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8FC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DE CLASE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8202168" y="60716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parte de este código convierte el body JSON en un objeto de JavaScript?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71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530352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D2A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93192" y="80467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3E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capataz prepara la entrada y dirige cada túnel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93192" y="131673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Middleware = herramientas intermedias. Ruta = túnel concreto hacia la lógica.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502920" y="1856232"/>
            <a:ext cx="1883664" cy="1572768"/>
          </a:xfrm>
          <a:prstGeom prst="roundRect">
            <a:avLst>
              <a:gd name="adj" fmla="val 4651"/>
            </a:avLst>
          </a:prstGeom>
          <a:solidFill>
            <a:srgbClr val="181A1C"/>
          </a:solidFill>
          <a:ln w="13970">
            <a:solidFill>
              <a:srgbClr val="83B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975104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B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23544" y="196596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Petición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630936" y="242316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B7B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/api/personas/3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2404872" y="2642616"/>
            <a:ext cx="246888" cy="0"/>
          </a:xfrm>
          <a:prstGeom prst="line">
            <a:avLst/>
          </a:prstGeom>
          <a:noFill/>
          <a:ln w="13335">
            <a:solidFill>
              <a:srgbClr val="7E818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70632" y="1856232"/>
            <a:ext cx="1883664" cy="1572768"/>
          </a:xfrm>
          <a:prstGeom prst="roundRect">
            <a:avLst>
              <a:gd name="adj" fmla="val 4651"/>
            </a:avLst>
          </a:prstGeom>
          <a:solidFill>
            <a:srgbClr val="181A1C"/>
          </a:solidFill>
          <a:ln w="13970">
            <a:solidFill>
              <a:srgbClr val="D2AE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0360" y="1975104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A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91256" y="196596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Middleware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2898648" y="242316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cors() + express.json()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4672584" y="2642616"/>
            <a:ext cx="246888" cy="0"/>
          </a:xfrm>
          <a:prstGeom prst="line">
            <a:avLst/>
          </a:prstGeom>
          <a:noFill/>
          <a:ln w="13335">
            <a:solidFill>
              <a:srgbClr val="7E818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38344" y="1856232"/>
            <a:ext cx="1883664" cy="1572768"/>
          </a:xfrm>
          <a:prstGeom prst="roundRect">
            <a:avLst>
              <a:gd name="adj" fmla="val 4651"/>
            </a:avLst>
          </a:prstGeom>
          <a:solidFill>
            <a:srgbClr val="181A1C"/>
          </a:solidFill>
          <a:ln w="13970">
            <a:solidFill>
              <a:srgbClr val="D2A0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48072" y="1975104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A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58968" y="196596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5166360" y="242316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body + decidir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6940296" y="2642616"/>
            <a:ext cx="246888" cy="0"/>
          </a:xfrm>
          <a:prstGeom prst="line">
            <a:avLst/>
          </a:prstGeom>
          <a:noFill/>
          <a:ln w="13335">
            <a:solidFill>
              <a:srgbClr val="7E8185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06056" y="1856232"/>
            <a:ext cx="1883664" cy="1572768"/>
          </a:xfrm>
          <a:prstGeom prst="roundRect">
            <a:avLst>
              <a:gd name="adj" fmla="val 4651"/>
            </a:avLst>
          </a:prstGeom>
          <a:solidFill>
            <a:srgbClr val="181A1C"/>
          </a:solidFill>
          <a:ln w="13970">
            <a:solidFill>
              <a:srgbClr val="8FC79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15784" y="1975104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C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26680" y="196596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Prisma</a:t>
            </a:r>
            <a:endParaRPr lang="en-US" sz="1140" dirty="0"/>
          </a:p>
        </p:txBody>
      </p:sp>
      <p:sp>
        <p:nvSpPr>
          <p:cNvPr id="23" name="Text 21"/>
          <p:cNvSpPr/>
          <p:nvPr/>
        </p:nvSpPr>
        <p:spPr>
          <a:xfrm>
            <a:off x="7434072" y="242316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B7B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person.update(...)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9208008" y="2642616"/>
            <a:ext cx="246888" cy="0"/>
          </a:xfrm>
          <a:prstGeom prst="line">
            <a:avLst/>
          </a:prstGeom>
          <a:noFill/>
          <a:ln w="13335">
            <a:solidFill>
              <a:srgbClr val="7E8185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573768" y="1856232"/>
            <a:ext cx="1883664" cy="1572768"/>
          </a:xfrm>
          <a:prstGeom prst="roundRect">
            <a:avLst>
              <a:gd name="adj" fmla="val 4651"/>
            </a:avLst>
          </a:prstGeom>
          <a:solidFill>
            <a:srgbClr val="181A1C"/>
          </a:solidFill>
          <a:ln w="13970">
            <a:solidFill>
              <a:srgbClr val="83B6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83496" y="1975104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B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994392" y="196596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</a:t>
            </a:r>
            <a:endParaRPr lang="en-US" sz="1140" dirty="0"/>
          </a:p>
        </p:txBody>
      </p:sp>
      <p:sp>
        <p:nvSpPr>
          <p:cNvPr id="28" name="Text 26"/>
          <p:cNvSpPr/>
          <p:nvPr/>
        </p:nvSpPr>
        <p:spPr>
          <a:xfrm>
            <a:off x="9701784" y="242316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+ código HTTP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932688" y="3831336"/>
            <a:ext cx="10332720" cy="2057400"/>
          </a:xfrm>
          <a:prstGeom prst="roundRect">
            <a:avLst>
              <a:gd name="adj" fmla="val 3556"/>
            </a:avLst>
          </a:prstGeom>
          <a:solidFill>
            <a:srgbClr val="17191B"/>
          </a:solidFill>
          <a:ln w="13970">
            <a:solidFill>
              <a:srgbClr val="4B4E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33856" y="3995928"/>
            <a:ext cx="9930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70" kern="0" dirty="0">
                <a:solidFill>
                  <a:srgbClr val="D2A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BACKEND/SRC/INDEX.TS</a:t>
            </a:r>
            <a:endParaRPr lang="en-US" sz="830" dirty="0"/>
          </a:p>
        </p:txBody>
      </p:sp>
      <p:sp>
        <p:nvSpPr>
          <p:cNvPr id="31" name="Text 29"/>
          <p:cNvSpPr/>
          <p:nvPr/>
        </p:nvSpPr>
        <p:spPr>
          <a:xfrm>
            <a:off x="1133856" y="4306824"/>
            <a:ext cx="99303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5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app.use(cors());</a:t>
            </a:r>
            <a:endParaRPr lang="en-US" sz="1215" dirty="0"/>
          </a:p>
          <a:p>
            <a:pPr indent="0" marL="0">
              <a:buNone/>
            </a:pPr>
            <a:r>
              <a:rPr lang="en-US" sz="1215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app.use(express.json());</a:t>
            </a:r>
            <a:endParaRPr lang="en-US" sz="1215" dirty="0"/>
          </a:p>
          <a:p>
            <a:pPr indent="0" marL="0">
              <a:buNone/>
            </a:pPr>
            <a:endParaRPr lang="en-US" sz="1215" dirty="0"/>
          </a:p>
          <a:p>
            <a:pPr indent="0" marL="0">
              <a:buNone/>
            </a:pPr>
            <a:r>
              <a:rPr lang="en-US" sz="1215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app.patch('/api/personas/:id', async (req, res) =&gt; {</a:t>
            </a:r>
            <a:endParaRPr lang="en-US" sz="1215" dirty="0"/>
          </a:p>
          <a:p>
            <a:pPr indent="0" marL="0">
              <a:buNone/>
            </a:pPr>
            <a:r>
              <a:rPr lang="en-US" sz="1215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person = await prisma.person.update({</a:t>
            </a:r>
            <a:endParaRPr lang="en-US" sz="1215" dirty="0"/>
          </a:p>
          <a:p>
            <a:pPr indent="0" marL="0">
              <a:buNone/>
            </a:pPr>
            <a:r>
              <a:rPr lang="en-US" sz="1215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where: { id: Number(req.params.id) },</a:t>
            </a:r>
            <a:endParaRPr lang="en-US" sz="1215" dirty="0"/>
          </a:p>
          <a:p>
            <a:pPr indent="0" marL="0">
              <a:buNone/>
            </a:pPr>
            <a:r>
              <a:rPr lang="en-US" sz="1215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data: req.body,</a:t>
            </a:r>
            <a:endParaRPr lang="en-US" sz="1215" dirty="0"/>
          </a:p>
          <a:p>
            <a:pPr indent="0" marL="0">
              <a:buNone/>
            </a:pPr>
            <a:r>
              <a:rPr lang="en-US" sz="1215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15" dirty="0"/>
          </a:p>
          <a:p>
            <a:pPr indent="0" marL="0">
              <a:buNone/>
            </a:pPr>
            <a:endParaRPr lang="en-US" sz="1215" dirty="0"/>
          </a:p>
          <a:p>
            <a:pPr indent="0" marL="0">
              <a:buNone/>
            </a:pPr>
            <a:r>
              <a:rPr lang="en-US" sz="1215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res.json(person);</a:t>
            </a:r>
            <a:endParaRPr lang="en-US" sz="1215" dirty="0"/>
          </a:p>
          <a:p>
            <a:pPr indent="0" marL="0">
              <a:buNone/>
            </a:pPr>
            <a:r>
              <a:rPr lang="en-US" sz="1215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15" dirty="0"/>
          </a:p>
        </p:txBody>
      </p:sp>
      <p:sp>
        <p:nvSpPr>
          <p:cNvPr id="32" name="Text 30"/>
          <p:cNvSpPr/>
          <p:nvPr/>
        </p:nvSpPr>
        <p:spPr>
          <a:xfrm>
            <a:off x="1133856" y="5705856"/>
            <a:ext cx="9930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i="1" dirty="0">
                <a:solidFill>
                  <a:srgbClr val="777A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REAL DEL PROYECTO · SIN CAMBIOS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7059168" y="6089904"/>
            <a:ext cx="4480560" cy="384048"/>
          </a:xfrm>
          <a:prstGeom prst="roundRect">
            <a:avLst>
              <a:gd name="adj" fmla="val 11905"/>
            </a:avLst>
          </a:prstGeom>
          <a:solidFill>
            <a:srgbClr val="1C2520"/>
          </a:solidFill>
          <a:ln w="10160">
            <a:solidFill>
              <a:srgbClr val="466B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68896" y="6163056"/>
            <a:ext cx="1234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8FC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DE CLASE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8357616" y="614476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¿De dónde sale el id y de dónde salen los datos a actualizar?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71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530352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D2A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PRISMA ORM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93192" y="80467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3E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schema hace visible el contrato de datos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93192" y="131673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Prisma conecta TypeScript con SQLite y genera un cliente tipado para las consultas.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530352" y="1810512"/>
            <a:ext cx="5532120" cy="4160520"/>
          </a:xfrm>
          <a:prstGeom prst="roundRect">
            <a:avLst>
              <a:gd name="adj" fmla="val 1758"/>
            </a:avLst>
          </a:prstGeom>
          <a:solidFill>
            <a:srgbClr val="17191B"/>
          </a:solidFill>
          <a:ln w="13970">
            <a:solidFill>
              <a:srgbClr val="4B4E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75104"/>
            <a:ext cx="5129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70" kern="0" dirty="0">
                <a:solidFill>
                  <a:srgbClr val="D2A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PRISMA/SCHEMA.PRISMA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5129784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Person {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Int @id @default(autoincrement())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firstName String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lastName String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arrivalDate DateTime?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isWorking Boolean @default(false)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createdAt DateTime @default(now())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80" dirty="0"/>
          </a:p>
        </p:txBody>
      </p:sp>
      <p:sp>
        <p:nvSpPr>
          <p:cNvPr id="8" name="Text 6"/>
          <p:cNvSpPr/>
          <p:nvPr/>
        </p:nvSpPr>
        <p:spPr>
          <a:xfrm>
            <a:off x="731520" y="5788152"/>
            <a:ext cx="51297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i="1" dirty="0">
                <a:solidFill>
                  <a:srgbClr val="777A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REAL DEL PROYECTO · SIN CAMBIOS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6583680" y="2039112"/>
            <a:ext cx="4572000" cy="786384"/>
          </a:xfrm>
          <a:prstGeom prst="roundRect">
            <a:avLst>
              <a:gd name="adj" fmla="val 9302"/>
            </a:avLst>
          </a:prstGeom>
          <a:solidFill>
            <a:srgbClr val="202326"/>
          </a:solidFill>
          <a:ln w="13970">
            <a:solidFill>
              <a:srgbClr val="D2AE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84848" y="220370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A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19288" y="215798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la tabla y sus tipos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3108960"/>
            <a:ext cx="4572000" cy="786384"/>
          </a:xfrm>
          <a:prstGeom prst="roundRect">
            <a:avLst>
              <a:gd name="adj" fmla="val 9302"/>
            </a:avLst>
          </a:prstGeom>
          <a:solidFill>
            <a:srgbClr val="202326"/>
          </a:solidFill>
          <a:ln w="13970">
            <a:solidFill>
              <a:srgbClr val="8FC79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84848" y="327355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FC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19288" y="32278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expone prisma.person.findMany()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0" y="4178808"/>
            <a:ext cx="4572000" cy="786384"/>
          </a:xfrm>
          <a:prstGeom prst="roundRect">
            <a:avLst>
              <a:gd name="adj" fmla="val 9302"/>
            </a:avLst>
          </a:prstGeom>
          <a:solidFill>
            <a:srgbClr val="202326"/>
          </a:solidFill>
          <a:ln w="13970">
            <a:solidFill>
              <a:srgbClr val="83B6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84848" y="43434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3B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19288" y="42976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mantiene la base sincronizada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5367528"/>
            <a:ext cx="4590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ORM no elimina la base: nos da una forma segura y entendible de hablar con ella.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5989320"/>
            <a:ext cx="4663440" cy="384048"/>
          </a:xfrm>
          <a:prstGeom prst="roundRect">
            <a:avLst>
              <a:gd name="adj" fmla="val 11905"/>
            </a:avLst>
          </a:prstGeom>
          <a:solidFill>
            <a:srgbClr val="1C2520"/>
          </a:solidFill>
          <a:ln w="10160">
            <a:solidFill>
              <a:srgbClr val="466B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0568" y="6062472"/>
            <a:ext cx="1234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8FC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DE CLASE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8019288" y="604418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agregamos un campo al schema, ¿qué pieza mantiene sincronizada la base?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71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530352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D2A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PRISMA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93192" y="80467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3E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Prisma convierte consultas legibles en datos persistentes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93192" y="131673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código no escribe SQL a mano para cada lectura o alta.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530352" y="1874520"/>
            <a:ext cx="5330952" cy="3246120"/>
          </a:xfrm>
          <a:prstGeom prst="roundRect">
            <a:avLst>
              <a:gd name="adj" fmla="val 2254"/>
            </a:avLst>
          </a:prstGeom>
          <a:solidFill>
            <a:srgbClr val="17191B"/>
          </a:solidFill>
          <a:ln w="13970">
            <a:solidFill>
              <a:srgbClr val="4B4E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39112"/>
            <a:ext cx="4928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70" kern="0" dirty="0">
                <a:solidFill>
                  <a:srgbClr val="83B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CON PRISMA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731520" y="2350008"/>
            <a:ext cx="492861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people = await prisma.person.findMany({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orderBy: { createdAt: "desc" },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res.json(people);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4937760"/>
            <a:ext cx="4928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i="1" dirty="0">
                <a:solidFill>
                  <a:srgbClr val="777A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REAL DEL PROYECTO · SIN CAMBIOS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6327648" y="1874520"/>
            <a:ext cx="5330952" cy="3246120"/>
          </a:xfrm>
          <a:prstGeom prst="roundRect">
            <a:avLst>
              <a:gd name="adj" fmla="val 2254"/>
            </a:avLst>
          </a:prstGeom>
          <a:solidFill>
            <a:srgbClr val="1C1914"/>
          </a:solidFill>
          <a:ln w="13970">
            <a:solidFill>
              <a:srgbClr val="8A7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28816" y="2039112"/>
            <a:ext cx="4928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70" kern="0" dirty="0">
                <a:solidFill>
                  <a:srgbClr val="D2A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CON PRISMA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6528816" y="2350008"/>
            <a:ext cx="492861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person = await prisma.person.create({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data: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firstName, lastName,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arrivalDate, isWorking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28816" y="4937760"/>
            <a:ext cx="4928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i="1" dirty="0">
                <a:solidFill>
                  <a:srgbClr val="777A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REAL DEL PROYECTO · SIN CAMBIOS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5897880" y="3429000"/>
            <a:ext cx="356616" cy="0"/>
          </a:xfrm>
          <a:prstGeom prst="line">
            <a:avLst/>
          </a:prstGeom>
          <a:noFill/>
          <a:ln w="15240">
            <a:solidFill>
              <a:srgbClr val="7E8185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331720" y="54681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Prisma Client  →  valida el modelo  →  persiste en SQLite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013448" y="5989320"/>
            <a:ext cx="4526280" cy="384048"/>
          </a:xfrm>
          <a:prstGeom prst="roundRect">
            <a:avLst>
              <a:gd name="adj" fmla="val 11905"/>
            </a:avLst>
          </a:prstGeom>
          <a:solidFill>
            <a:srgbClr val="1C2520"/>
          </a:solidFill>
          <a:ln w="10160">
            <a:solidFill>
              <a:srgbClr val="466B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23176" y="6062472"/>
            <a:ext cx="1234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8FC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DE CLASE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8311896" y="60441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¿Cuál de estas operaciones devuelve muchos registros y cuál crea uno nuevo?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71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530352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D2A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93192" y="80467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3E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 lee el fuerte y alimenta la FlatList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93192" y="131673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abrir la app, useEffect llama al endpoint y guarda la respuesta.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502920" y="1847088"/>
            <a:ext cx="5541264" cy="3520440"/>
          </a:xfrm>
          <a:prstGeom prst="roundRect">
            <a:avLst>
              <a:gd name="adj" fmla="val 2078"/>
            </a:avLst>
          </a:prstGeom>
          <a:solidFill>
            <a:srgbClr val="17191B"/>
          </a:solidFill>
          <a:ln w="13970">
            <a:solidFill>
              <a:srgbClr val="4B4E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2011680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70" kern="0" dirty="0">
                <a:solidFill>
                  <a:srgbClr val="83B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/ GET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704088" y="2322576"/>
            <a:ext cx="513892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app.get("/api/personas", async (_req, res) =&gt; {</a:t>
            </a: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people = await prisma.person.findMany({</a:t>
            </a: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orderBy: { createdAt: "desc" },</a:t>
            </a: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370" dirty="0"/>
          </a:p>
          <a:p>
            <a:pPr indent="0" marL="0">
              <a:buNone/>
            </a:pP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res.json(people);</a:t>
            </a: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70" dirty="0"/>
          </a:p>
        </p:txBody>
      </p:sp>
      <p:sp>
        <p:nvSpPr>
          <p:cNvPr id="8" name="Text 6"/>
          <p:cNvSpPr/>
          <p:nvPr/>
        </p:nvSpPr>
        <p:spPr>
          <a:xfrm>
            <a:off x="704088" y="5184648"/>
            <a:ext cx="5138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i="1" dirty="0">
                <a:solidFill>
                  <a:srgbClr val="777A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REAL DEL PROYECTO · SIN CAMBIOS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6327648" y="1847088"/>
            <a:ext cx="5330952" cy="3520440"/>
          </a:xfrm>
          <a:prstGeom prst="roundRect">
            <a:avLst>
              <a:gd name="adj" fmla="val 2078"/>
            </a:avLst>
          </a:prstGeom>
          <a:solidFill>
            <a:srgbClr val="17191B"/>
          </a:solidFill>
          <a:ln w="13970">
            <a:solidFill>
              <a:srgbClr val="4B4E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28816" y="2011680"/>
            <a:ext cx="4928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70" kern="0" dirty="0">
                <a:solidFill>
                  <a:srgbClr val="D2A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/ USEEFFECT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6528816" y="2322576"/>
            <a:ext cx="492861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loadPeople() {</a:t>
            </a: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response = await fetch(</a:t>
            </a: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`${API_URL}/api/personas`</a:t>
            </a: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setPeople(await response.json());</a:t>
            </a: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70" dirty="0"/>
          </a:p>
        </p:txBody>
      </p:sp>
      <p:sp>
        <p:nvSpPr>
          <p:cNvPr id="12" name="Text 10"/>
          <p:cNvSpPr/>
          <p:nvPr/>
        </p:nvSpPr>
        <p:spPr>
          <a:xfrm>
            <a:off x="6528816" y="5184648"/>
            <a:ext cx="4928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i="1" dirty="0">
                <a:solidFill>
                  <a:srgbClr val="777A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REAL DEL PROYECTO · SIN CAMBIOS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713232" y="4974336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8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Respuesta: [ { id, firstName, ... } ]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06640" y="5001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8FC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 →  people  →  FlatList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7818120" y="5998464"/>
            <a:ext cx="3703320" cy="384048"/>
          </a:xfrm>
          <a:prstGeom prst="roundRect">
            <a:avLst>
              <a:gd name="adj" fmla="val 11905"/>
            </a:avLst>
          </a:prstGeom>
          <a:solidFill>
            <a:srgbClr val="1C2520"/>
          </a:solidFill>
          <a:ln w="10160">
            <a:solidFill>
              <a:srgbClr val="466B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27848" y="6071616"/>
            <a:ext cx="1234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8FC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DE CLASE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9116568" y="60533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cambia si quitamos el orderBy?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71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530352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D2A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93192" y="80467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3E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 crea un nuevo habitante del fuerte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93192" y="131673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formulario envía JSON; Express valida y Prisma crea el registro.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512064" y="1847088"/>
            <a:ext cx="4974336" cy="3749040"/>
          </a:xfrm>
          <a:prstGeom prst="roundRect">
            <a:avLst>
              <a:gd name="adj" fmla="val 1951"/>
            </a:avLst>
          </a:prstGeom>
          <a:solidFill>
            <a:srgbClr val="17191B"/>
          </a:solidFill>
          <a:ln w="13970">
            <a:solidFill>
              <a:srgbClr val="4B4E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0116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70" kern="0" dirty="0">
                <a:solidFill>
                  <a:srgbClr val="D2A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REQUEST JSON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713232" y="2322576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10" dirty="0"/>
          </a:p>
          <a:p>
            <a:pPr indent="0" marL="0">
              <a:buNone/>
            </a:pPr>
            <a:r>
              <a:rPr lang="en-US" sz="151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"firstName": "Mina",</a:t>
            </a:r>
            <a:endParaRPr lang="en-US" sz="1510" dirty="0"/>
          </a:p>
          <a:p>
            <a:pPr indent="0" marL="0">
              <a:buNone/>
            </a:pPr>
            <a:r>
              <a:rPr lang="en-US" sz="151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"lastName": "Miner",</a:t>
            </a:r>
            <a:endParaRPr lang="en-US" sz="1510" dirty="0"/>
          </a:p>
          <a:p>
            <a:pPr indent="0" marL="0">
              <a:buNone/>
            </a:pPr>
            <a:r>
              <a:rPr lang="en-US" sz="151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"arrivalDate": "2026-09-15",</a:t>
            </a:r>
            <a:endParaRPr lang="en-US" sz="1510" dirty="0"/>
          </a:p>
          <a:p>
            <a:pPr indent="0" marL="0">
              <a:buNone/>
            </a:pPr>
            <a:r>
              <a:rPr lang="en-US" sz="151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"isWorking": true</a:t>
            </a:r>
            <a:endParaRPr lang="en-US" sz="1510" dirty="0"/>
          </a:p>
          <a:p>
            <a:pPr indent="0" marL="0">
              <a:buNone/>
            </a:pPr>
            <a:r>
              <a:rPr lang="en-US" sz="151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10" dirty="0"/>
          </a:p>
        </p:txBody>
      </p:sp>
      <p:sp>
        <p:nvSpPr>
          <p:cNvPr id="8" name="Text 6"/>
          <p:cNvSpPr/>
          <p:nvPr/>
        </p:nvSpPr>
        <p:spPr>
          <a:xfrm>
            <a:off x="713232" y="541324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i="1" dirty="0">
                <a:solidFill>
                  <a:srgbClr val="777A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REAL DEL PROYECTO · SIN CAMBIOS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5870448" y="1847088"/>
            <a:ext cx="5779008" cy="3749040"/>
          </a:xfrm>
          <a:prstGeom prst="roundRect">
            <a:avLst>
              <a:gd name="adj" fmla="val 1951"/>
            </a:avLst>
          </a:prstGeom>
          <a:solidFill>
            <a:srgbClr val="17191B"/>
          </a:solidFill>
          <a:ln w="13970">
            <a:solidFill>
              <a:srgbClr val="4B4E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71616" y="2011680"/>
            <a:ext cx="5376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70" kern="0" dirty="0">
                <a:solidFill>
                  <a:srgbClr val="7E8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ROUTE + VALIDACIÓN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6071616" y="2322576"/>
            <a:ext cx="537667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(!firstName || !lastName) {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res.status(400).json({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error: "Faltan datos obligatorios"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80" dirty="0"/>
          </a:p>
          <a:p>
            <a:pPr indent="0" marL="0">
              <a:buNone/>
            </a:pP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person = await prisma.person.create({ data });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res.status(201).json(person);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071616" y="5413248"/>
            <a:ext cx="5376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i="1" dirty="0">
                <a:solidFill>
                  <a:srgbClr val="777A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REAL DEL PROYECTO · SIN CAMBIOS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6163056" y="5157216"/>
            <a:ext cx="5184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8FC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 Created  →  la app limpia inputs y vuelve a GET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6931152" y="6007608"/>
            <a:ext cx="4590288" cy="384048"/>
          </a:xfrm>
          <a:prstGeom prst="roundRect">
            <a:avLst>
              <a:gd name="adj" fmla="val 11905"/>
            </a:avLst>
          </a:prstGeom>
          <a:solidFill>
            <a:srgbClr val="1C2520"/>
          </a:solidFill>
          <a:ln w="10160">
            <a:solidFill>
              <a:srgbClr val="466B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6080760"/>
            <a:ext cx="1234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8FC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DE CLASE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8229600" y="6062472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un alta exitosa responde 201 y no solamente 200?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71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530352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D2A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93192" y="80467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3E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PATCH cambia una sola propiedad sin reemplazar la persona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93192" y="131673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para alternar el estado laboral desde una tarjeta.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658368" y="1938528"/>
            <a:ext cx="2816352" cy="1965960"/>
          </a:xfrm>
          <a:prstGeom prst="roundRect">
            <a:avLst>
              <a:gd name="adj" fmla="val 3721"/>
            </a:avLst>
          </a:prstGeom>
          <a:solidFill>
            <a:srgbClr val="191B1D"/>
          </a:solidFill>
          <a:ln w="13970">
            <a:solidFill>
              <a:srgbClr val="3A3E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1854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70" kern="0" dirty="0">
                <a:solidFill>
                  <a:srgbClr val="7E8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896112" y="2578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E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Mina Miner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96112" y="30632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isWorking  false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11880" y="2889504"/>
            <a:ext cx="978408" cy="0"/>
          </a:xfrm>
          <a:prstGeom prst="line">
            <a:avLst/>
          </a:prstGeom>
          <a:noFill/>
          <a:ln w="22860">
            <a:solidFill>
              <a:srgbClr val="D2AE63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681728" y="2066544"/>
            <a:ext cx="2834640" cy="1664208"/>
          </a:xfrm>
          <a:prstGeom prst="roundRect">
            <a:avLst>
              <a:gd name="adj" fmla="val 4396"/>
            </a:avLst>
          </a:prstGeom>
          <a:solidFill>
            <a:srgbClr val="1D1A15"/>
          </a:solidFill>
          <a:ln w="13970">
            <a:solidFill>
              <a:srgbClr val="8A7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25054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2A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/personas/7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56048" y="29169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dirty="0">
                <a:solidFill>
                  <a:srgbClr val="F3EF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isWorking: true }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7607808" y="2889504"/>
            <a:ext cx="914400" cy="0"/>
          </a:xfrm>
          <a:prstGeom prst="line">
            <a:avLst/>
          </a:prstGeom>
          <a:noFill/>
          <a:ln w="22860">
            <a:solidFill>
              <a:srgbClr val="D2AE6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641080" y="1938528"/>
            <a:ext cx="2816352" cy="1965960"/>
          </a:xfrm>
          <a:prstGeom prst="roundRect">
            <a:avLst>
              <a:gd name="adj" fmla="val 3721"/>
            </a:avLst>
          </a:prstGeom>
          <a:solidFill>
            <a:srgbClr val="191B1D"/>
          </a:solidFill>
          <a:ln w="13970">
            <a:solidFill>
              <a:srgbClr val="3A3E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87968" y="218541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70" kern="0" dirty="0">
                <a:solidFill>
                  <a:srgbClr val="7E8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DESPUÉS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8887968" y="2578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E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Mina Miner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887968" y="30632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C7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isWorking  true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057400" y="4407408"/>
            <a:ext cx="8065008" cy="1097280"/>
          </a:xfrm>
          <a:prstGeom prst="roundRect">
            <a:avLst>
              <a:gd name="adj" fmla="val 6667"/>
            </a:avLst>
          </a:prstGeom>
          <a:solidFill>
            <a:srgbClr val="17191B"/>
          </a:solidFill>
          <a:ln w="13970">
            <a:solidFill>
              <a:srgbClr val="4B4E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58568" y="4572000"/>
            <a:ext cx="7662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70" kern="0" dirty="0">
                <a:solidFill>
                  <a:srgbClr val="D2A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DEL PROYECTO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2258568" y="4882896"/>
            <a:ext cx="7662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app.patch("/api/personas/:id", async (req, res) =&gt; { ... });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2258568" y="5321808"/>
            <a:ext cx="7662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i="1" dirty="0">
                <a:solidFill>
                  <a:srgbClr val="777A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REAL DEL PROYECTO · SIN CAMBIOS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6986016" y="5989320"/>
            <a:ext cx="4590288" cy="384048"/>
          </a:xfrm>
          <a:prstGeom prst="roundRect">
            <a:avLst>
              <a:gd name="adj" fmla="val 11905"/>
            </a:avLst>
          </a:prstGeom>
          <a:solidFill>
            <a:srgbClr val="1C2520"/>
          </a:solidFill>
          <a:ln w="10160">
            <a:solidFill>
              <a:srgbClr val="466B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95744" y="6062472"/>
            <a:ext cx="1234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8FC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DE CLASE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8284464" y="6044184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propiedad viaja en el body y qué dato viaja en la URL?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71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530352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D2A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93192" y="80467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3E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App.tsx conecta la UI con la API sin esconder el flujo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93192" y="131673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backend devuelve datos; la UI decide cómo mostrarlos.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512064" y="1847088"/>
            <a:ext cx="5623560" cy="3867912"/>
          </a:xfrm>
          <a:prstGeom prst="roundRect">
            <a:avLst>
              <a:gd name="adj" fmla="val 1891"/>
            </a:avLst>
          </a:prstGeom>
          <a:solidFill>
            <a:srgbClr val="17191B"/>
          </a:solidFill>
          <a:ln w="13970">
            <a:solidFill>
              <a:srgbClr val="4B4E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011680"/>
            <a:ext cx="5221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70" kern="0" dirty="0">
                <a:solidFill>
                  <a:srgbClr val="D2A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FETCH / POST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713232" y="2322576"/>
            <a:ext cx="5221224" cy="3227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5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POST: guarda una persona nueva</a:t>
            </a:r>
            <a:endParaRPr lang="en-US" sz="1255" dirty="0"/>
          </a:p>
          <a:p>
            <a:pPr indent="0" marL="0">
              <a:buNone/>
            </a:pPr>
            <a:r>
              <a:rPr lang="en-US" sz="1255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response = await fetch(`${API_URL}/api/personas`, {</a:t>
            </a:r>
            <a:endParaRPr lang="en-US" sz="1255" dirty="0"/>
          </a:p>
          <a:p>
            <a:pPr indent="0" marL="0">
              <a:buNone/>
            </a:pPr>
            <a:r>
              <a:rPr lang="en-US" sz="1255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method: 'POST',</a:t>
            </a:r>
            <a:endParaRPr lang="en-US" sz="1255" dirty="0"/>
          </a:p>
          <a:p>
            <a:pPr indent="0" marL="0">
              <a:buNone/>
            </a:pPr>
            <a:r>
              <a:rPr lang="en-US" sz="1255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headers: { 'Content-Type': 'application/json' },</a:t>
            </a:r>
            <a:endParaRPr lang="en-US" sz="1255" dirty="0"/>
          </a:p>
          <a:p>
            <a:pPr indent="0" marL="0">
              <a:buNone/>
            </a:pPr>
            <a:r>
              <a:rPr lang="en-US" sz="1255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body: JSON.stringify({ firstName, lastName,</a:t>
            </a:r>
            <a:endParaRPr lang="en-US" sz="1255" dirty="0"/>
          </a:p>
          <a:p>
            <a:pPr indent="0" marL="0">
              <a:buNone/>
            </a:pPr>
            <a:r>
              <a:rPr lang="en-US" sz="1255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arrivalDate, isWorking }),</a:t>
            </a:r>
            <a:endParaRPr lang="en-US" sz="1255" dirty="0"/>
          </a:p>
          <a:p>
            <a:pPr indent="0" marL="0">
              <a:buNone/>
            </a:pPr>
            <a:r>
              <a:rPr lang="en-US" sz="1255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5" dirty="0"/>
          </a:p>
          <a:p>
            <a:pPr indent="0" marL="0">
              <a:buNone/>
            </a:pPr>
            <a:endParaRPr lang="en-US" sz="1255" dirty="0"/>
          </a:p>
          <a:p>
            <a:pPr indent="0" marL="0">
              <a:buNone/>
            </a:pPr>
            <a:r>
              <a:rPr lang="en-US" sz="1255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loadPeople();</a:t>
            </a:r>
            <a:endParaRPr lang="en-US" sz="1255" dirty="0"/>
          </a:p>
        </p:txBody>
      </p:sp>
      <p:sp>
        <p:nvSpPr>
          <p:cNvPr id="8" name="Text 6"/>
          <p:cNvSpPr/>
          <p:nvPr/>
        </p:nvSpPr>
        <p:spPr>
          <a:xfrm>
            <a:off x="713232" y="5532120"/>
            <a:ext cx="52212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i="1" dirty="0">
                <a:solidFill>
                  <a:srgbClr val="777A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REAL DEL PROYECTO · SIN CAMBIOS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6428232" y="1847088"/>
            <a:ext cx="5221224" cy="3867912"/>
          </a:xfrm>
          <a:prstGeom prst="roundRect">
            <a:avLst>
              <a:gd name="adj" fmla="val 1891"/>
            </a:avLst>
          </a:prstGeom>
          <a:solidFill>
            <a:srgbClr val="17191B"/>
          </a:solidFill>
          <a:ln w="13970">
            <a:solidFill>
              <a:srgbClr val="8A7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011680"/>
            <a:ext cx="4818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70" kern="0" dirty="0">
                <a:solidFill>
                  <a:srgbClr val="83B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FLATLIST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6629400" y="2322576"/>
            <a:ext cx="4818888" cy="3227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&lt;FlatList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data={people}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keyExtractor={(person) =&gt; String(person.id)}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renderItem={({ item }) =&gt; (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&lt;PersonCard item={item} /&gt;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)}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6629400" y="5532120"/>
            <a:ext cx="4818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i="1" dirty="0">
                <a:solidFill>
                  <a:srgbClr val="777A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REAL DEL PROYECTO · SIN CAMBIOS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6720840" y="513892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UI no persiste: solicita, recibe, guarda en estado y renderiza.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7178040" y="5989320"/>
            <a:ext cx="4343400" cy="384048"/>
          </a:xfrm>
          <a:prstGeom prst="roundRect">
            <a:avLst>
              <a:gd name="adj" fmla="val 11905"/>
            </a:avLst>
          </a:prstGeom>
          <a:solidFill>
            <a:srgbClr val="1C2520"/>
          </a:solidFill>
          <a:ln w="10160">
            <a:solidFill>
              <a:srgbClr val="466B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87768" y="6062472"/>
            <a:ext cx="1234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8FC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DE CLASE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8476488" y="60441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después del POST se llama otra vez a loadPeople()?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71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530352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D2A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93192" y="80467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3E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acción del usuario recorre todo el sistema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93192" y="131673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respuesta regresa por el mismo camino y actualiza la vista.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502920" y="2084832"/>
            <a:ext cx="1874520" cy="2240280"/>
          </a:xfrm>
          <a:prstGeom prst="roundRect">
            <a:avLst>
              <a:gd name="adj" fmla="val 3902"/>
            </a:avLst>
          </a:prstGeom>
          <a:solidFill>
            <a:srgbClr val="181A1C"/>
          </a:solidFill>
          <a:ln w="15240">
            <a:solidFill>
              <a:srgbClr val="83B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677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B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41832" y="2240280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TOUCH</a:t>
            </a:r>
            <a:endParaRPr lang="en-US" sz="1210" dirty="0"/>
          </a:p>
        </p:txBody>
      </p:sp>
      <p:sp>
        <p:nvSpPr>
          <p:cNvPr id="8" name="Text 6"/>
          <p:cNvSpPr/>
          <p:nvPr/>
        </p:nvSpPr>
        <p:spPr>
          <a:xfrm>
            <a:off x="667512" y="295351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Presiona agregar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cambiar labor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2395728" y="3182112"/>
            <a:ext cx="246888" cy="0"/>
          </a:xfrm>
          <a:prstGeom prst="line">
            <a:avLst/>
          </a:prstGeom>
          <a:noFill/>
          <a:ln w="13335">
            <a:solidFill>
              <a:srgbClr val="7E818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70632" y="2084832"/>
            <a:ext cx="1874520" cy="2240280"/>
          </a:xfrm>
          <a:prstGeom prst="roundRect">
            <a:avLst>
              <a:gd name="adj" fmla="val 3902"/>
            </a:avLst>
          </a:prstGeom>
          <a:solidFill>
            <a:srgbClr val="181A1C"/>
          </a:solidFill>
          <a:ln w="15240">
            <a:solidFill>
              <a:srgbClr val="D2AE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07792" y="22677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A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9544" y="2240280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</a:t>
            </a:r>
            <a:endParaRPr lang="en-US" sz="1210" dirty="0"/>
          </a:p>
        </p:txBody>
      </p:sp>
      <p:sp>
        <p:nvSpPr>
          <p:cNvPr id="13" name="Text 11"/>
          <p:cNvSpPr/>
          <p:nvPr/>
        </p:nvSpPr>
        <p:spPr>
          <a:xfrm>
            <a:off x="2935224" y="295351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o PATCH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viaja a Express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4663440" y="3182112"/>
            <a:ext cx="246888" cy="0"/>
          </a:xfrm>
          <a:prstGeom prst="line">
            <a:avLst/>
          </a:prstGeom>
          <a:noFill/>
          <a:ln w="13335">
            <a:solidFill>
              <a:srgbClr val="7E818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38344" y="2084832"/>
            <a:ext cx="1874520" cy="2240280"/>
          </a:xfrm>
          <a:prstGeom prst="roundRect">
            <a:avLst>
              <a:gd name="adj" fmla="val 3902"/>
            </a:avLst>
          </a:prstGeom>
          <a:solidFill>
            <a:srgbClr val="181A1C"/>
          </a:solidFill>
          <a:ln w="15240">
            <a:solidFill>
              <a:srgbClr val="8FC79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75504" y="22677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C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77256" y="2240280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PRISMA</a:t>
            </a:r>
            <a:endParaRPr lang="en-US" sz="1210" dirty="0"/>
          </a:p>
        </p:txBody>
      </p:sp>
      <p:sp>
        <p:nvSpPr>
          <p:cNvPr id="18" name="Text 16"/>
          <p:cNvSpPr/>
          <p:nvPr/>
        </p:nvSpPr>
        <p:spPr>
          <a:xfrm>
            <a:off x="5202936" y="295351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o update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modelo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931152" y="3182112"/>
            <a:ext cx="246888" cy="0"/>
          </a:xfrm>
          <a:prstGeom prst="line">
            <a:avLst/>
          </a:prstGeom>
          <a:noFill/>
          <a:ln w="13335">
            <a:solidFill>
              <a:srgbClr val="7E8185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06056" y="2084832"/>
            <a:ext cx="1874520" cy="2240280"/>
          </a:xfrm>
          <a:prstGeom prst="roundRect">
            <a:avLst>
              <a:gd name="adj" fmla="val 3902"/>
            </a:avLst>
          </a:prstGeom>
          <a:solidFill>
            <a:srgbClr val="181A1C"/>
          </a:solidFill>
          <a:ln w="15240">
            <a:solidFill>
              <a:srgbClr val="D2A0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43216" y="22677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A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44968" y="2240280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</a:t>
            </a:r>
            <a:endParaRPr lang="en-US" sz="1210" dirty="0"/>
          </a:p>
        </p:txBody>
      </p:sp>
      <p:sp>
        <p:nvSpPr>
          <p:cNvPr id="23" name="Text 21"/>
          <p:cNvSpPr/>
          <p:nvPr/>
        </p:nvSpPr>
        <p:spPr>
          <a:xfrm>
            <a:off x="7470648" y="295351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dato queda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persistido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9198864" y="3182112"/>
            <a:ext cx="246888" cy="0"/>
          </a:xfrm>
          <a:prstGeom prst="line">
            <a:avLst/>
          </a:prstGeom>
          <a:noFill/>
          <a:ln w="13335">
            <a:solidFill>
              <a:srgbClr val="7E8185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573768" y="2084832"/>
            <a:ext cx="1874520" cy="2240280"/>
          </a:xfrm>
          <a:prstGeom prst="roundRect">
            <a:avLst>
              <a:gd name="adj" fmla="val 3902"/>
            </a:avLst>
          </a:prstGeom>
          <a:solidFill>
            <a:srgbClr val="181A1C"/>
          </a:solidFill>
          <a:ln w="15240">
            <a:solidFill>
              <a:srgbClr val="83B6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10928" y="22677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B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12680" y="2240280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</a:t>
            </a:r>
            <a:endParaRPr lang="en-US" sz="1210" dirty="0"/>
          </a:p>
        </p:txBody>
      </p:sp>
      <p:sp>
        <p:nvSpPr>
          <p:cNvPr id="28" name="Text 26"/>
          <p:cNvSpPr/>
          <p:nvPr/>
        </p:nvSpPr>
        <p:spPr>
          <a:xfrm>
            <a:off x="9738360" y="295351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refresca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FlatList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1097280" y="4828032"/>
            <a:ext cx="10012680" cy="786384"/>
          </a:xfrm>
          <a:prstGeom prst="roundRect">
            <a:avLst>
              <a:gd name="adj" fmla="val 9302"/>
            </a:avLst>
          </a:prstGeom>
          <a:solidFill>
            <a:srgbClr val="17191B"/>
          </a:solidFill>
          <a:ln w="13970">
            <a:solidFill>
              <a:srgbClr val="8A7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17320" y="50749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D2A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 no es una pantalla: es el acuerdo de comunicación entre dos partes.</a:t>
            </a:r>
            <a:endParaRPr lang="en-US" sz="1520" dirty="0"/>
          </a:p>
        </p:txBody>
      </p:sp>
      <p:sp>
        <p:nvSpPr>
          <p:cNvPr id="31" name="Shape 29"/>
          <p:cNvSpPr/>
          <p:nvPr/>
        </p:nvSpPr>
        <p:spPr>
          <a:xfrm>
            <a:off x="7168896" y="5989320"/>
            <a:ext cx="4352544" cy="384048"/>
          </a:xfrm>
          <a:prstGeom prst="roundRect">
            <a:avLst>
              <a:gd name="adj" fmla="val 11905"/>
            </a:avLst>
          </a:prstGeom>
          <a:solidFill>
            <a:srgbClr val="1C2520"/>
          </a:solidFill>
          <a:ln w="10160">
            <a:solidFill>
              <a:srgbClr val="466B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78624" y="6062472"/>
            <a:ext cx="1234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8FC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DE CLASE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8467344" y="6044184"/>
            <a:ext cx="2935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¿En qué punto del recorrido queda el dato “guardado de verdad”?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71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530352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D2A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93192" y="80467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3E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 códigos HTTP también forman parte del contrato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93192" y="131673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alcanza con “funcionó/no funcionó”: el cliente necesita saber qué ocurrió.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621792" y="1847088"/>
            <a:ext cx="4983480" cy="612648"/>
          </a:xfrm>
          <a:prstGeom prst="roundRect">
            <a:avLst>
              <a:gd name="adj" fmla="val 11940"/>
            </a:avLst>
          </a:prstGeom>
          <a:solidFill>
            <a:srgbClr val="202326"/>
          </a:solidFill>
          <a:ln w="13970">
            <a:solidFill>
              <a:srgbClr val="83B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002536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83B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 OK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2432304" y="1975104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o actualización exitosa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621792" y="2651760"/>
            <a:ext cx="4983480" cy="612648"/>
          </a:xfrm>
          <a:prstGeom prst="roundRect">
            <a:avLst>
              <a:gd name="adj" fmla="val 11940"/>
            </a:avLst>
          </a:prstGeom>
          <a:solidFill>
            <a:srgbClr val="202326"/>
          </a:solidFill>
          <a:ln w="13970">
            <a:solidFill>
              <a:srgbClr val="8FC79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807208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8FC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 Created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2432304" y="2779776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creó un recurso nuevo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621792" y="3456432"/>
            <a:ext cx="4983480" cy="612648"/>
          </a:xfrm>
          <a:prstGeom prst="roundRect">
            <a:avLst>
              <a:gd name="adj" fmla="val 11940"/>
            </a:avLst>
          </a:prstGeom>
          <a:solidFill>
            <a:srgbClr val="202326"/>
          </a:solidFill>
          <a:ln w="13970">
            <a:solidFill>
              <a:srgbClr val="D48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61188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D48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400 Bad Request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2432304" y="3584448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petición llegó, pero faltan datos válidos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621792" y="4261104"/>
            <a:ext cx="4983480" cy="612648"/>
          </a:xfrm>
          <a:prstGeom prst="roundRect">
            <a:avLst>
              <a:gd name="adj" fmla="val 11940"/>
            </a:avLst>
          </a:prstGeom>
          <a:solidFill>
            <a:srgbClr val="202326"/>
          </a:solidFill>
          <a:ln w="13970">
            <a:solidFill>
              <a:srgbClr val="D2A0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441655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D2A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204 No Content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2432304" y="438912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operación terminó sin cuerpo de respuesta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5989320" y="1847088"/>
            <a:ext cx="5321808" cy="3044952"/>
          </a:xfrm>
          <a:prstGeom prst="roundRect">
            <a:avLst>
              <a:gd name="adj" fmla="val 2402"/>
            </a:avLst>
          </a:prstGeom>
          <a:solidFill>
            <a:srgbClr val="17191B"/>
          </a:solidFill>
          <a:ln w="13970">
            <a:solidFill>
              <a:srgbClr val="4B4E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88" y="2011680"/>
            <a:ext cx="4919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70" kern="0" dirty="0">
                <a:solidFill>
                  <a:srgbClr val="D48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YA PRESENTE EN EL PROYECTO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6190488" y="2322576"/>
            <a:ext cx="4919472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(!firstName || !lastName) {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res.status(400).json({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error: "Faltan datos obligatorios"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6190488" y="4709160"/>
            <a:ext cx="4919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i="1" dirty="0">
                <a:solidFill>
                  <a:srgbClr val="777A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REAL DEL PROYECTO · SIN CAMBIOS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6089904" y="512978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Demostración útil: enviar un POST sin firstName y observar el 400. No cambia el código; solo mostramos qué contrato ya existe.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7662672" y="5989320"/>
            <a:ext cx="3858768" cy="384048"/>
          </a:xfrm>
          <a:prstGeom prst="roundRect">
            <a:avLst>
              <a:gd name="adj" fmla="val 11905"/>
            </a:avLst>
          </a:prstGeom>
          <a:solidFill>
            <a:srgbClr val="1C2520"/>
          </a:solidFill>
          <a:ln w="10160">
            <a:solidFill>
              <a:srgbClr val="466B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0" y="6062472"/>
            <a:ext cx="1234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8FC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DE CLASE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8961120" y="6044184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diferencia conceptual hay entre 400 y 500?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71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530352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D2A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93192" y="80467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3E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demo se puede repetir desde dos terminales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93192" y="131673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objetivo es ver el dato entrar, persistir y volver a aparecer.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530352" y="1874520"/>
            <a:ext cx="5248656" cy="3611880"/>
          </a:xfrm>
          <a:prstGeom prst="roundRect">
            <a:avLst>
              <a:gd name="adj" fmla="val 2025"/>
            </a:avLst>
          </a:prstGeom>
          <a:solidFill>
            <a:srgbClr val="17191B"/>
          </a:solidFill>
          <a:ln w="13970">
            <a:solidFill>
              <a:srgbClr val="4B4E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3911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70" kern="0" dirty="0">
                <a:solidFill>
                  <a:srgbClr val="D2A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 1 / BACKEND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731520" y="2350008"/>
            <a:ext cx="4846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3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backend</a:t>
            </a: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db:init</a:t>
            </a: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1630" dirty="0"/>
          </a:p>
          <a:p>
            <a:pPr indent="0" marL="0">
              <a:buNone/>
            </a:pP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http://localhost:3000/api/personas</a:t>
            </a:r>
            <a:endParaRPr lang="en-US" sz="1630" dirty="0"/>
          </a:p>
        </p:txBody>
      </p:sp>
      <p:sp>
        <p:nvSpPr>
          <p:cNvPr id="8" name="Text 6"/>
          <p:cNvSpPr/>
          <p:nvPr/>
        </p:nvSpPr>
        <p:spPr>
          <a:xfrm>
            <a:off x="731520" y="5303520"/>
            <a:ext cx="4846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i="1" dirty="0">
                <a:solidFill>
                  <a:srgbClr val="777A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REAL DEL PROYECTO · SIN CAMBIOS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6355080" y="1874520"/>
            <a:ext cx="5248656" cy="3611880"/>
          </a:xfrm>
          <a:prstGeom prst="roundRect">
            <a:avLst>
              <a:gd name="adj" fmla="val 2025"/>
            </a:avLst>
          </a:prstGeom>
          <a:solidFill>
            <a:srgbClr val="17191B"/>
          </a:solidFill>
          <a:ln w="13970">
            <a:solidFill>
              <a:srgbClr val="4B4E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203911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70" kern="0" dirty="0">
                <a:solidFill>
                  <a:srgbClr val="83B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 2 / EXPO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6556248" y="2350008"/>
            <a:ext cx="4846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3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mobile</a:t>
            </a: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expo start</a:t>
            </a:r>
            <a:endParaRPr lang="en-US" sz="1630" dirty="0"/>
          </a:p>
          <a:p>
            <a:pPr indent="0" marL="0">
              <a:buNone/>
            </a:pP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E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Presiona W para abrir Web</a:t>
            </a:r>
            <a:endParaRPr lang="en-US" sz="1630" dirty="0"/>
          </a:p>
        </p:txBody>
      </p:sp>
      <p:sp>
        <p:nvSpPr>
          <p:cNvPr id="12" name="Text 10"/>
          <p:cNvSpPr/>
          <p:nvPr/>
        </p:nvSpPr>
        <p:spPr>
          <a:xfrm>
            <a:off x="6556248" y="5303520"/>
            <a:ext cx="4846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i="1" dirty="0">
                <a:solidFill>
                  <a:srgbClr val="777A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REAL DEL PROYECTO · SIN CAMBIOS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1188720" y="5678424"/>
            <a:ext cx="164592" cy="164592"/>
          </a:xfrm>
          <a:prstGeom prst="ellipse">
            <a:avLst/>
          </a:prstGeom>
          <a:solidFill>
            <a:srgbClr val="83B6D9"/>
          </a:solidFill>
          <a:ln w="12700">
            <a:solidFill>
              <a:srgbClr val="83B6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44752" y="563270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carga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3703320" y="5678424"/>
            <a:ext cx="164592" cy="164592"/>
          </a:xfrm>
          <a:prstGeom prst="ellipse">
            <a:avLst/>
          </a:prstGeom>
          <a:solidFill>
            <a:srgbClr val="8FC79D"/>
          </a:solidFill>
          <a:ln w="12700">
            <a:solidFill>
              <a:srgbClr val="8FC79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2" y="563270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crea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6217920" y="5678424"/>
            <a:ext cx="164592" cy="164592"/>
          </a:xfrm>
          <a:prstGeom prst="ellipse">
            <a:avLst/>
          </a:prstGeom>
          <a:solidFill>
            <a:srgbClr val="D2AE63"/>
          </a:solidFill>
          <a:ln w="12700">
            <a:solidFill>
              <a:srgbClr val="D2AE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3952" y="563270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PATCH actualiza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8732520" y="5678424"/>
            <a:ext cx="164592" cy="164592"/>
          </a:xfrm>
          <a:prstGeom prst="ellipse">
            <a:avLst/>
          </a:prstGeom>
          <a:solidFill>
            <a:srgbClr val="D2A06B"/>
          </a:solidFill>
          <a:ln w="12700">
            <a:solidFill>
              <a:srgbClr val="D2A0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88552" y="563270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FlatList refleja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71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530352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D2A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93192" y="80467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3E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mapa mental para recordar toda la clase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93192" y="131673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idea es que puedan explicar el flujo sin mirar el código.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502920" y="1993392"/>
            <a:ext cx="2487168" cy="2212848"/>
          </a:xfrm>
          <a:prstGeom prst="roundRect">
            <a:avLst>
              <a:gd name="adj" fmla="val 3306"/>
            </a:avLst>
          </a:prstGeom>
          <a:solidFill>
            <a:srgbClr val="181A1C"/>
          </a:solidFill>
          <a:ln w="15240">
            <a:solidFill>
              <a:srgbClr val="83B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224028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83B6D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EXPO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“Muestra y pide”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722376" y="3273552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UI, estado, fetch(), FlatList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3392424" y="1993392"/>
            <a:ext cx="2487168" cy="2212848"/>
          </a:xfrm>
          <a:prstGeom prst="roundRect">
            <a:avLst>
              <a:gd name="adj" fmla="val 3306"/>
            </a:avLst>
          </a:prstGeom>
          <a:solidFill>
            <a:srgbClr val="181A1C"/>
          </a:solidFill>
          <a:ln w="15240">
            <a:solidFill>
              <a:srgbClr val="D2AE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57016" y="224028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D2AE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EXPRESS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3575304" y="2743200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“Recibe y decide”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3611880" y="3273552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rutas, middleware, JSON, status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6281928" y="1993392"/>
            <a:ext cx="2487168" cy="2212848"/>
          </a:xfrm>
          <a:prstGeom prst="roundRect">
            <a:avLst>
              <a:gd name="adj" fmla="val 3306"/>
            </a:avLst>
          </a:prstGeom>
          <a:solidFill>
            <a:srgbClr val="181A1C"/>
          </a:solidFill>
          <a:ln w="15240">
            <a:solidFill>
              <a:srgbClr val="8FC79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24028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8FC79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PRISMA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6464808" y="2743200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“Habla con los datos”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6501384" y="3273552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schema, client, create/find/update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9171432" y="1993392"/>
            <a:ext cx="2487168" cy="2212848"/>
          </a:xfrm>
          <a:prstGeom prst="roundRect">
            <a:avLst>
              <a:gd name="adj" fmla="val 3306"/>
            </a:avLst>
          </a:prstGeom>
          <a:solidFill>
            <a:srgbClr val="181A1C"/>
          </a:solidFill>
          <a:ln w="15240">
            <a:solidFill>
              <a:srgbClr val="D2A0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36024" y="224028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D2A0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SQLITE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354312" y="2743200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“Conserva”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9390888" y="3273552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B7B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persistencia real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987552" y="4736592"/>
            <a:ext cx="10241280" cy="749808"/>
          </a:xfrm>
          <a:prstGeom prst="roundRect">
            <a:avLst>
              <a:gd name="adj" fmla="val 9756"/>
            </a:avLst>
          </a:prstGeom>
          <a:solidFill>
            <a:srgbClr val="17191B"/>
          </a:solidFill>
          <a:ln w="13970">
            <a:solidFill>
              <a:srgbClr val="8A7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25880" y="4965192"/>
            <a:ext cx="9555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2A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 → Expo → HTTP → Express → Prisma → SQLite → respuesta → Expo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828800" y="5715000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F3EF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pueden contar ese viaje y ubicar cada responsabilidad, entendieron la arquitectura.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717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LIR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Una fortaleza que recuerda a sus enanos</dc:title>
  <dc:subject>Clase práctica: React Native Expo + Express + Prisma + SQLite + TypeScript</dc:subject>
  <dc:creator>OpenAI</dc:creator>
  <cp:lastModifiedBy>OpenAI</cp:lastModifiedBy>
  <cp:revision>1</cp:revision>
  <dcterms:created xsi:type="dcterms:W3CDTF">2026-09-16T20:30:56Z</dcterms:created>
  <dcterms:modified xsi:type="dcterms:W3CDTF">2026-09-16T20:30:56Z</dcterms:modified>
</cp:coreProperties>
</file>